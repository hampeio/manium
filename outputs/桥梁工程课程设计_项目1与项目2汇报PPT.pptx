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6f03850c3455a" /><Relationship Type="http://schemas.openxmlformats.org/officeDocument/2006/relationships/extended-properties" Target="/docProps/app.xml" Id="R48d55f0a54cb427d" /><Relationship Type="http://schemas.openxmlformats.org/officeDocument/2006/relationships/officeDocument" Target="/ppt/presentation.xml" Id="R52ed312a7ba840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8866f201143c8"/>
  </p:sldMasterIdLst>
  <p:notesMasterIdLst>
    <p:notesMasterId xmlns:r="http://schemas.openxmlformats.org/officeDocument/2006/relationships" r:id="Rfca30af473e84dc8"/>
  </p:notesMasterIdLst>
  <p:sldIdLst>
    <p:sldId xmlns:r="http://schemas.openxmlformats.org/officeDocument/2006/relationships" id="256" r:id="Re3abf9aac4204fba"/>
    <p:sldId xmlns:r="http://schemas.openxmlformats.org/officeDocument/2006/relationships" id="257" r:id="Rea19d5028078425d"/>
    <p:sldId xmlns:r="http://schemas.openxmlformats.org/officeDocument/2006/relationships" id="258" r:id="R2477b2d7089d4652"/>
    <p:sldId xmlns:r="http://schemas.openxmlformats.org/officeDocument/2006/relationships" id="259" r:id="R393c7e245bf64bfe"/>
    <p:sldId xmlns:r="http://schemas.openxmlformats.org/officeDocument/2006/relationships" id="260" r:id="R4b2a78eff1f54d2e"/>
    <p:sldId xmlns:r="http://schemas.openxmlformats.org/officeDocument/2006/relationships" id="261" r:id="R68f75ab4ffa947e8"/>
    <p:sldId xmlns:r="http://schemas.openxmlformats.org/officeDocument/2006/relationships" id="262" r:id="R85532bdc99da4c10"/>
    <p:sldId xmlns:r="http://schemas.openxmlformats.org/officeDocument/2006/relationships" id="263" r:id="Ra610b1ce5390497a"/>
    <p:sldId xmlns:r="http://schemas.openxmlformats.org/officeDocument/2006/relationships" id="264" r:id="R0018e1f243f7416a"/>
    <p:sldId xmlns:r="http://schemas.openxmlformats.org/officeDocument/2006/relationships" id="265" r:id="R5f247c1df13349f4"/>
    <p:sldId xmlns:r="http://schemas.openxmlformats.org/officeDocument/2006/relationships" id="266" r:id="R912e5e3032c449e2"/>
    <p:sldId xmlns:r="http://schemas.openxmlformats.org/officeDocument/2006/relationships" id="267" r:id="R3a261237ebc24862"/>
    <p:sldId xmlns:r="http://schemas.openxmlformats.org/officeDocument/2006/relationships" id="268" r:id="Rea09f977671744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ca3f4b92c45a5" /><Relationship Type="http://schemas.openxmlformats.org/officeDocument/2006/relationships/slideMaster" Target="/ppt/slideMasters/slideMaster1.xml" Id="R2898866f201143c8" /><Relationship Type="http://schemas.openxmlformats.org/officeDocument/2006/relationships/notesMaster" Target="/ppt/notesMasters/notesMaster1.xml" Id="Rfca30af473e84dc8" /><Relationship Type="http://schemas.openxmlformats.org/officeDocument/2006/relationships/presProps" Target="/ppt/presProps.xml" Id="Rcddf0d71100543dd" /><Relationship Type="http://schemas.openxmlformats.org/officeDocument/2006/relationships/tableStyles" Target="/ppt/tableStyles.xml" Id="Ra36565433f3249aa" /><Relationship Type="http://schemas.openxmlformats.org/officeDocument/2006/relationships/slide" Target="/ppt/slides/slide1.xml" Id="Re3abf9aac4204fba" /><Relationship Type="http://schemas.openxmlformats.org/officeDocument/2006/relationships/slide" Target="/ppt/slides/slide2.xml" Id="Rea19d5028078425d" /><Relationship Type="http://schemas.openxmlformats.org/officeDocument/2006/relationships/slide" Target="/ppt/slides/slide3.xml" Id="R2477b2d7089d4652" /><Relationship Type="http://schemas.openxmlformats.org/officeDocument/2006/relationships/slide" Target="/ppt/slides/slide4.xml" Id="R393c7e245bf64bfe" /><Relationship Type="http://schemas.openxmlformats.org/officeDocument/2006/relationships/slide" Target="/ppt/slides/slide5.xml" Id="R4b2a78eff1f54d2e" /><Relationship Type="http://schemas.openxmlformats.org/officeDocument/2006/relationships/slide" Target="/ppt/slides/slide6.xml" Id="R68f75ab4ffa947e8" /><Relationship Type="http://schemas.openxmlformats.org/officeDocument/2006/relationships/slide" Target="/ppt/slides/slide7.xml" Id="R85532bdc99da4c10" /><Relationship Type="http://schemas.openxmlformats.org/officeDocument/2006/relationships/slide" Target="/ppt/slides/slide8.xml" Id="Ra610b1ce5390497a" /><Relationship Type="http://schemas.openxmlformats.org/officeDocument/2006/relationships/slide" Target="/ppt/slides/slide9.xml" Id="R0018e1f243f7416a" /><Relationship Type="http://schemas.openxmlformats.org/officeDocument/2006/relationships/slide" Target="/ppt/slides/slide10.xml" Id="R5f247c1df13349f4" /><Relationship Type="http://schemas.openxmlformats.org/officeDocument/2006/relationships/slide" Target="/ppt/slides/slide11.xml" Id="R912e5e3032c449e2" /><Relationship Type="http://schemas.openxmlformats.org/officeDocument/2006/relationships/slide" Target="/ppt/slides/slide12.xml" Id="R3a261237ebc24862" /><Relationship Type="http://schemas.openxmlformats.org/officeDocument/2006/relationships/slide" Target="/ppt/slides/slide13.xml" Id="Rea09f9776717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03d273194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f884cd034e4390" /><Relationship Type="http://schemas.openxmlformats.org/officeDocument/2006/relationships/notesMaster" Target="/ppt/notesMasters/notesMaster1.xml" Id="R2435f09725dd43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457cc4fe24baa" /><Relationship Type="http://schemas.openxmlformats.org/officeDocument/2006/relationships/notesMaster" Target="/ppt/notesMasters/notesMaster1.xml" Id="R4b3ed1650ae3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57edca49b4848" /><Relationship Type="http://schemas.openxmlformats.org/officeDocument/2006/relationships/notesMaster" Target="/ppt/notesMasters/notesMaster1.xml" Id="R00bc2630e3ac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910e766384637" /><Relationship Type="http://schemas.openxmlformats.org/officeDocument/2006/relationships/notesMaster" Target="/ppt/notesMasters/notesMaster1.xml" Id="R491f90f5314840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86bf62e2f4c82" /><Relationship Type="http://schemas.openxmlformats.org/officeDocument/2006/relationships/notesMaster" Target="/ppt/notesMasters/notesMaster1.xml" Id="Rf9718491d92340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9af4ff18549b5" /><Relationship Type="http://schemas.openxmlformats.org/officeDocument/2006/relationships/notesMaster" Target="/ppt/notesMasters/notesMaster1.xml" Id="R5e1db5a7e214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4cb07f8af4565" /><Relationship Type="http://schemas.openxmlformats.org/officeDocument/2006/relationships/notesMaster" Target="/ppt/notesMasters/notesMaster1.xml" Id="Rfbcbe0d946d1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e0deaca7c4d0f" /><Relationship Type="http://schemas.openxmlformats.org/officeDocument/2006/relationships/notesMaster" Target="/ppt/notesMasters/notesMaster1.xml" Id="Rdd7efcc04643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c5eb2d8d9540f6" /><Relationship Type="http://schemas.openxmlformats.org/officeDocument/2006/relationships/notesMaster" Target="/ppt/notesMasters/notesMaster1.xml" Id="Rc611d5b2c75243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a24ec9e0e14d5d" /><Relationship Type="http://schemas.openxmlformats.org/officeDocument/2006/relationships/notesMaster" Target="/ppt/notesMasters/notesMaster1.xml" Id="R18ac355cff2045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ee6aa485b048af" /><Relationship Type="http://schemas.openxmlformats.org/officeDocument/2006/relationships/notesMaster" Target="/ppt/notesMasters/notesMaster1.xml" Id="Reaf7002d20a143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d2291ae76947ba" /><Relationship Type="http://schemas.openxmlformats.org/officeDocument/2006/relationships/notesMaster" Target="/ppt/notesMasters/notesMaster1.xml" Id="R9a131a4321274c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331752d97e4e4f" /><Relationship Type="http://schemas.openxmlformats.org/officeDocument/2006/relationships/notesMaster" Target="/ppt/notesMasters/notesMaster1.xml" Id="R8b9a62b1ee64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e3ec1b7f84d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0a5da8e164f1e" /><Relationship Type="http://schemas.openxmlformats.org/officeDocument/2006/relationships/slideLayout" Target="/ppt/slideLayouts/slideLayout1.xml" Id="R264720559d73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720559d73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92ece057c4cd2" /><Relationship Type="http://schemas.openxmlformats.org/officeDocument/2006/relationships/image" Target="/ppt/media/image.png" Id="R20cc9fa03cff4d9b" /><Relationship Type="http://schemas.openxmlformats.org/officeDocument/2006/relationships/notesSlide" Target="/ppt/notesSlides/notesSlide1.xml" Id="R6873cdde829b49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771c3318647af" /><Relationship Type="http://schemas.openxmlformats.org/officeDocument/2006/relationships/notesSlide" Target="/ppt/notesSlides/notesSlide2.xml" Id="R0938efcb40dc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075f2a82847a0" /><Relationship Type="http://schemas.openxmlformats.org/officeDocument/2006/relationships/notesSlide" Target="/ppt/notesSlides/notesSlide3.xml" Id="R9574fd0f473f45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90389580c4dd9" /><Relationship Type="http://schemas.openxmlformats.org/officeDocument/2006/relationships/image" Target="/ppt/media/image2.png" Id="R5bd9df8c1b5e474e" /><Relationship Type="http://schemas.openxmlformats.org/officeDocument/2006/relationships/image" Target="/ppt/media/image3.png" Id="R339db58c8e214103" /><Relationship Type="http://schemas.openxmlformats.org/officeDocument/2006/relationships/notesSlide" Target="/ppt/notesSlides/notesSlide4.xml" Id="Rf3db00ba6787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f60e8de5d45f0" /><Relationship Type="http://schemas.openxmlformats.org/officeDocument/2006/relationships/image" Target="/ppt/media/image4.png" Id="R4ff9b69d8eae482d" /><Relationship Type="http://schemas.openxmlformats.org/officeDocument/2006/relationships/notesSlide" Target="/ppt/notesSlides/notesSlide5.xml" Id="Rcfeca216eba646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861ca92da4d79" /><Relationship Type="http://schemas.openxmlformats.org/officeDocument/2006/relationships/image" Target="/ppt/media/image5.png" Id="Rfa73862038de46d3" /><Relationship Type="http://schemas.openxmlformats.org/officeDocument/2006/relationships/image" Target="/ppt/media/image6.png" Id="Rd5b20f973945494e" /><Relationship Type="http://schemas.openxmlformats.org/officeDocument/2006/relationships/notesSlide" Target="/ppt/notesSlides/notesSlide6.xml" Id="Rfebc8410b1d246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6958148b843cf" /><Relationship Type="http://schemas.openxmlformats.org/officeDocument/2006/relationships/image" Target="/ppt/media/image7.png" Id="Rc361d7975dbd4ac2" /><Relationship Type="http://schemas.openxmlformats.org/officeDocument/2006/relationships/image" Target="/ppt/media/image8.png" Id="R77c0520b66f84b5b" /><Relationship Type="http://schemas.openxmlformats.org/officeDocument/2006/relationships/notesSlide" Target="/ppt/notesSlides/notesSlide7.xml" Id="R68d1143dd2d4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04a8e6415458a" /><Relationship Type="http://schemas.openxmlformats.org/officeDocument/2006/relationships/image" Target="/ppt/media/image9.png" Id="Rbfd1736ab8b84004" /><Relationship Type="http://schemas.openxmlformats.org/officeDocument/2006/relationships/notesSlide" Target="/ppt/notesSlides/notesSlide8.xml" Id="Rc50b3741ee2846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0d44fd03b407b" /><Relationship Type="http://schemas.openxmlformats.org/officeDocument/2006/relationships/notesSlide" Target="/ppt/notesSlides/notesSlide9.xml" Id="R53943bbf221e4e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aaf1a2f44bfd" /><Relationship Type="http://schemas.openxmlformats.org/officeDocument/2006/relationships/notesSlide" Target="/ppt/notesSlides/notesSlide10.xml" Id="R90ea2c4b7861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4dac7db964f86" /><Relationship Type="http://schemas.openxmlformats.org/officeDocument/2006/relationships/notesSlide" Target="/ppt/notesSlides/notesSlide11.xml" Id="R7514ce4e455849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6985d05e9474b" /><Relationship Type="http://schemas.openxmlformats.org/officeDocument/2006/relationships/notesSlide" Target="/ppt/notesSlides/notesSlide12.xml" Id="Rc8402622ff9f44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e81e65d294ed4" /><Relationship Type="http://schemas.openxmlformats.org/officeDocument/2006/relationships/notesSlide" Target="/ppt/notesSlides/notesSlide13.xml" Id="R1e4885a6d4fa4d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4313D-83D0-4B47-BCCF-A37ED606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FC545-D12B-4E76-B662-0909879F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A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8BD86-2531-4026-869A-95FF28F3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33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2D9"/>
                </a:solidFill>
              </a:defRPr>
            </a:pPr>
            <a:r>
              <a:t>桥梁工程课程设计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7494B-DB39-4695-B996-55D9C71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905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t>基于 Manim 的教学动画生成
与交互式审阅系统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B8EE-3BA9-4435-A501-40F4871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FE1D0-D3D3-483C-99F2-D6E3EE37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000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7F4"/>
                </a:solidFill>
              </a:defRPr>
            </a:pPr>
            <a:r>
              <a:t>项目1：生成流水线  ×  项目2：Agent-in-the-loop 局部修订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36FB-ADF8-4652-9DE4-D6E5CF92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628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3D5"/>
                </a:solidFill>
              </a:defRPr>
            </a:pPr>
            <a:r>
              <a:t>马琛籴  刘浩然  ·  智能交建23  ·  2025—2026学年第二学期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c9fa03cff4d9b"/>
          <a:srcRect xmlns:a="http://schemas.openxmlformats.org/drawingml/2006/main" l="24232" t="0" r="24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43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18435-09C1-44EE-B8A2-CA3B412A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设计背景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0B7A4-C81B-4EBF-8A6E-A0D3A15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CC058-0E09-46AB-9D4D-F1AAAF6B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为什么要把桥梁知识做成“可修改的动画”？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B9C95-65C9-40B2-A8CA-376ABEFF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E0BE4-2B3B-4613-AF30-B2AD824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46316-8CAB-40F3-87D5-C331FE8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7DDC"/>
                </a:solidFill>
              </a:defRPr>
            </a:pPr>
            <a:r>
              <a:t>结构体系复杂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7D167-51F4-4169-9C3E-CBB7FF6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335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单幅静态图难同时说清构造与受力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B1C15-97EE-48E0-AD73-36FFFAA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D4ABF-EF41-40C5-8DF1-EFCF55CC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7DDC"/>
                </a:solidFill>
              </a:defRPr>
            </a:pPr>
            <a:r>
              <a:t>传力路径抽象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9816D-987A-4936-8A0D-4D9CABD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003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文字缺少方向和时间顺序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284B1-F0CF-4FA2-9366-79DE181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B5367-C851-4017-A79B-D521A997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7DDC"/>
                </a:solidFill>
              </a:defRPr>
            </a:pPr>
            <a:r>
              <a:t>修改成本高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6E840-5C2A-48D9-B624-1A59871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671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一处调整往往要重做整段演示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46332-1C71-4547-82D6-019652C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23A22-A432-4129-8C93-7632A1D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7DDC"/>
                </a:solidFill>
              </a:defRPr>
            </a:pPr>
            <a:r>
              <a:t>反馈难定位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A3B7D-7017-4D7C-9097-7DBD63AA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33950"/>
            <a:ext cx="295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“这里不清楚”无法直接对应代码对象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85882-4398-4F43-8131-90081B82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42"/>
                </a:solidFill>
              </a:defRPr>
            </a:pPr>
            <a:r>
              <a:t>设计回应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AC0C1-143C-4AA8-BD13-FDDFB9A8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47675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62A"/>
                </a:solidFill>
              </a:defRPr>
            </a:pPr>
            <a:r>
              <a:t>分镜化表达
结构化生成
编号批注
局部重渲染
版本回滚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BEB8A-D272-4476-8E0C-3CDCAC2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57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</a:defRPr>
            </a:pPr>
            <a:r>
              <a:t>目标不是代替结构计算，而是让工程理解、表达组织与成果复核可执行、可追溯。</a:t>
            </a:r>
          </a:p>
        </p:txBody>
      </p:sp>
    </p:spTree>
    <p:extLst>
      <p:ext uri="{BB962C8B-B14F-4D97-AF65-F5344CB8AC3E}">
        <p14:creationId xmlns:p14="http://schemas.microsoft.com/office/powerpoint/2010/main" val="703212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C4D3B-713D-447D-AD2B-F5D47B4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50D5C-3C2B-44FF-ACA8-235B0865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C6447-AE66-43A3-8612-A5D8E10D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两个项目组成一条闭环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746AB-8C08-45FE-8C5A-B240783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3FCFB-4395-4548-8439-5B92D8B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95210-495E-455D-9A72-985EC73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39FCB-65DF-4609-964C-2EBBD931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7DDC"/>
                </a:solidFill>
              </a:defRPr>
            </a:pPr>
            <a:r>
              <a:t>项目 1  ·  生成端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D2FB8-0953-478D-89A1-32DA36B0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28625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A"/>
                </a:solidFill>
              </a:defRPr>
            </a:pPr>
            <a:r>
              <a:t>一句话输入
→ 教学大纲与分镜
→ ManimCE 代码
→ 检查、渲染、修复
→ 字幕、音频与项目导出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6F544-5EB4-4CD1-A5C6-9DFCC36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2D9"/>
                </a:solidFill>
              </a:defRPr>
            </a:pPr>
            <a:r>
              <a:t>提高首次成片效率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236F1-564C-47E1-A1FF-D5ED4FB5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6A18"/>
                </a:solidFill>
              </a:defRPr>
            </a:pPr>
            <a:r>
              <a:t>项目 2  ·  审阅端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68C0E-531B-4C47-A0A9-8AF198EA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428625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62A"/>
                </a:solidFill>
              </a:defRPr>
            </a:pPr>
            <a:r>
              <a:t>视频时间轴
→ 编号批注
→ 分镜与对象匹配
→ Agent Task
→ 局部重渲染
→ 接受修订或回滚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898B4-CAFB-44A2-8A4D-E8C994A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19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42"/>
                </a:solidFill>
              </a:defRPr>
            </a:pPr>
            <a:r>
              <a:t>提高精细修改的可靠性</a:t>
            </a:r>
          </a:p>
        </p:txBody>
      </p:sp>
    </p:spTree>
    <p:extLst>
      <p:ext uri="{BB962C8B-B14F-4D97-AF65-F5344CB8AC3E}">
        <p14:creationId xmlns:p14="http://schemas.microsoft.com/office/powerpoint/2010/main" val="1898506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9DBDD-56C7-467C-8B39-3C5E62D0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系统设计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34E6B-620C-445B-B9BB-E76E504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72BDE-E380-4E71-B7F2-BE20518C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总体架构：本地化、分层化、文件化契约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594B1-7041-4DD0-9E96-D29ADA9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9df8c1b5e474e"/>
          <a:stretch xmlns:a="http://schemas.openxmlformats.org/drawingml/2006/main"/>
        </p:blipFill>
        <p:spPr>
          <a:xfrm xmlns:a="http://schemas.openxmlformats.org/drawingml/2006/main">
            <a:off x="495300" y="2269972"/>
            <a:ext cx="5353050" cy="2108507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db58c8e214103"/>
          <a:stretch xmlns:a="http://schemas.openxmlformats.org/drawingml/2006/main"/>
        </p:blipFill>
        <p:spPr>
          <a:xfrm xmlns:a="http://schemas.openxmlformats.org/drawingml/2006/main">
            <a:off x="6343650" y="2153989"/>
            <a:ext cx="5353050" cy="23404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F4F06-5BD7-43DB-8EE4-2E10ACF3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5353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7DDC"/>
                </a:solidFill>
              </a:defRPr>
            </a:pPr>
            <a:r>
              <a:t>项目1：Electron + FastAPI + Python + ManimCE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D5510-316E-47A8-A149-D672C685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5353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46A18"/>
                </a:solidFill>
              </a:defRPr>
            </a:pPr>
            <a:r>
              <a:t>项目2：React + FastAPI + Skill + 结构化文件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AB2A-CC97-4BE4-AF92-05E1D57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10250"/>
            <a:ext cx="979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62A"/>
                </a:solidFill>
              </a:defRPr>
            </a:pPr>
            <a:r>
              <a:t>共享思想：分镜是最小教学单元；日志与版本是质量保障。</a:t>
            </a:r>
          </a:p>
        </p:txBody>
      </p:sp>
    </p:spTree>
    <p:extLst>
      <p:ext uri="{BB962C8B-B14F-4D97-AF65-F5344CB8AC3E}">
        <p14:creationId xmlns:p14="http://schemas.microsoft.com/office/powerpoint/2010/main" val="1964831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B323E-C22A-4C50-8E97-160E31FA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生成流水线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8CF54-0054-436D-9088-886D3808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39D68-E4E1-4EDA-B539-9C5E1B4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项目1：从问题定框到成片导出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FFDA7-65B1-44C9-B084-D523341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9b69d8eae482d"/>
          <a:stretch xmlns:a="http://schemas.openxmlformats.org/drawingml/2006/main"/>
        </p:blipFill>
        <p:spPr>
          <a:xfrm xmlns:a="http://schemas.openxmlformats.org/drawingml/2006/main">
            <a:off x="2946918" y="1619250"/>
            <a:ext cx="6298163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5B23D-74EA-4FBD-AD73-2EA8001F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42"/>
                </a:solidFill>
              </a:defRPr>
            </a:pPr>
            <a:r>
              <a:t>关键策略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C1135-1F73-45EB-AC60-62C20AE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578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A"/>
                </a:solidFill>
              </a:defRPr>
            </a:pPr>
            <a:r>
              <a:t>语法检查前置  ·  渲染超时控制  ·  最多 3 轮自动修复  ·  失败日志全量保留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5A119-B3AA-41BD-8CC1-E85D698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问题定框文件在大纲、分镜、代码阶段保持不变，防止多轮生成偏离桥梁主题。</a:t>
            </a:r>
          </a:p>
        </p:txBody>
      </p:sp>
    </p:spTree>
    <p:extLst>
      <p:ext uri="{BB962C8B-B14F-4D97-AF65-F5344CB8AC3E}">
        <p14:creationId xmlns:p14="http://schemas.microsoft.com/office/powerpoint/2010/main" val="1791609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F54B2-C7CC-420C-8B7D-B719036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项目1功能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BA8D9-88C2-4AA9-911F-8E27E395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9EA9B-E346-4A1C-B803-E7AFAC0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两种入口：快速生成与节点工作流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B78D-1991-47E6-AE9F-6D64B96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3862038de46d3"/>
          <a:srcRect xmlns:a="http://schemas.openxmlformats.org/drawingml/2006/main" l="5530" t="0" r="55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76400"/>
            <a:ext cx="539115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20f973945494e"/>
          <a:srcRect xmlns:a="http://schemas.openxmlformats.org/drawingml/2006/main" l="0" t="9916" r="0" b="9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676400"/>
            <a:ext cx="53911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ABA45-E9D7-4836-B8F5-2ABDBF1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539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7DDC"/>
                </a:solidFill>
              </a:defRPr>
            </a:pPr>
            <a:r>
              <a:t>节点工作流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11A88-3269-4A07-9732-BDDA60D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539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7DDC"/>
                </a:solidFill>
              </a:defRPr>
            </a:pPr>
            <a:r>
              <a:t>快速生成与片段管理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08BA-733B-4261-8BEB-942DCEA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5391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57A"/>
                </a:solidFill>
              </a:defRPr>
            </a:pPr>
            <a:r>
              <a:t>端口类型校验 · DAG验证 · 拓扑执行 · 状态快照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CA773-3FB8-4E50-A1EA-6AA417C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05450"/>
            <a:ext cx="5391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57A"/>
                </a:solidFill>
              </a:defRPr>
            </a:pPr>
            <a:r>
              <a:t>输入主题后跟踪阶段、进度、日志，并支持分镜局部重渲染</a:t>
            </a:r>
          </a:p>
        </p:txBody>
      </p:sp>
    </p:spTree>
    <p:extLst>
      <p:ext uri="{BB962C8B-B14F-4D97-AF65-F5344CB8AC3E}">
        <p14:creationId xmlns:p14="http://schemas.microsoft.com/office/powerpoint/2010/main" val="451148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0D76D-2E22-46EA-ACE9-D4D2375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交互式审阅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3CE38-3530-4906-A8DE-EA113B7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2E12-EF94-4C45-AD7D-806681A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项目2：把“这里要改”变成可执行任务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B56AF-EF3F-4BD5-80BC-771E008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1d7975dbd4ac2"/>
          <a:stretch xmlns:a="http://schemas.openxmlformats.org/drawingml/2006/main"/>
        </p:blipFill>
        <p:spPr>
          <a:xfrm xmlns:a="http://schemas.openxmlformats.org/drawingml/2006/main">
            <a:off x="4259036" y="1619250"/>
            <a:ext cx="3673929" cy="20002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0520b66f84b5b"/>
          <a:srcRect xmlns:a="http://schemas.openxmlformats.org/drawingml/2006/main" l="0" t="18916" r="0" b="18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905250"/>
            <a:ext cx="4953000" cy="219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65D90-C0CD-41F1-8200-FD9A15B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43350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42"/>
                </a:solidFill>
              </a:defRPr>
            </a:pPr>
            <a:r>
              <a:t>三重定位边界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80C25-2E76-4BCD-9EA1-4FD62928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95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62A"/>
                </a:solidFill>
              </a:defRPr>
            </a:pPr>
            <a:r>
              <a:t>时间边界：shot_map
代码边界：scene_class 行区间
对象边界：SHOT_ID + OBJECT_ID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51F1D-D814-4083-B2DA-79A6D407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721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</a:defRPr>
            </a:pPr>
            <a:r>
              <a:t>失败不创建“成功修订”；可随时恢复前一版本。</a:t>
            </a:r>
          </a:p>
        </p:txBody>
      </p:sp>
    </p:spTree>
    <p:extLst>
      <p:ext uri="{BB962C8B-B14F-4D97-AF65-F5344CB8AC3E}">
        <p14:creationId xmlns:p14="http://schemas.microsoft.com/office/powerpoint/2010/main" val="1598765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3D02C-5F07-4E01-B0DE-BE72635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工程语义验证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E508B-A412-4B2F-8A25-C749D42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F676-13CE-4657-B866-1AA1125F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斜拉桥示例：从构件识别到荷载传递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BE898-8445-46E0-98AF-12B7BAB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736ab8b84004"/>
          <a:stretch xmlns:a="http://schemas.openxmlformats.org/drawingml/2006/main"/>
        </p:blipFill>
        <p:spPr>
          <a:xfrm xmlns:a="http://schemas.openxmlformats.org/drawingml/2006/main">
            <a:off x="495300" y="1812997"/>
            <a:ext cx="11201400" cy="27367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FDA89-B3B8-4EE7-8C94-52D47BF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12234-C16B-48EA-A780-93A35D4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262A5-3C30-447E-A341-26DCF289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482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29F79-D0C3-4A5F-9F02-6E01934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7DDC"/>
                </a:solidFill>
              </a:defRPr>
            </a:pPr>
            <a:r>
              <a:t>01  建立总体认知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52304-B0B1-45C9-9660-9BD40C0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</a:defRPr>
            </a:pPr>
            <a:r>
              <a:t>桥面—桥塔—扇形斜拉索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1B8E8-B17E-4536-AADF-D18183C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006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0836B"/>
                </a:solidFill>
              </a:defRPr>
            </a:pPr>
            <a:r>
              <a:t>02  解释传力路径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D27AD-44CC-4D9C-A165-C131BB8A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626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</a:defRPr>
            </a:pPr>
            <a:r>
              <a:t>车辆→桥面→斜拉索→桥塔→地基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18CBA-759C-41B0-A767-62AEF94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006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46A18"/>
                </a:solidFill>
              </a:defRPr>
            </a:pPr>
            <a:r>
              <a:t>03  归纳受力要点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FC136-30F7-4C2D-B815-FEB2ECBB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626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</a:defRPr>
            </a:pPr>
            <a:r>
              <a:t>索受拉 · 塔受压 · 无跨全桥主缆</a:t>
            </a:r>
          </a:p>
        </p:txBody>
      </p:sp>
    </p:spTree>
    <p:extLst>
      <p:ext uri="{BB962C8B-B14F-4D97-AF65-F5344CB8AC3E}">
        <p14:creationId xmlns:p14="http://schemas.microsoft.com/office/powerpoint/2010/main" val="690503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DA8F2-EDE4-4311-B12C-D31FE1B1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关键实现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F6884-6A5A-4792-B67A-95532BD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644EA-BF52-4EE9-BB7E-6548088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核心技术：把生成的不确定性约束在流程中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41570-0407-4D62-A499-0E745B4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0CFA-35CB-44CB-BF03-15D940B4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52C32-B04B-427A-8202-DC9A9AB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7DDC"/>
                </a:solidFill>
              </a:defRPr>
            </a:pPr>
            <a:r>
              <a:t>工程语义→视觉语言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ADAD6-28BB-4978-AAF8-C277444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667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62A"/>
                </a:solidFill>
              </a:defRPr>
            </a:pPr>
            <a:r>
              <a:t>教学目标、visual_plan、对象清单三层映射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BD8A9-7EE8-4ADC-A106-826FEDB4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EEDC6-6DB3-482C-9705-87B2B41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6A18"/>
                </a:solidFill>
              </a:defRPr>
            </a:pPr>
            <a:r>
              <a:t>DAG 与类型系统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0DB7D-8F17-4DC7-BEB5-2E95DF4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667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62A"/>
                </a:solidFill>
              </a:defRPr>
            </a:pPr>
            <a:r>
              <a:t>运行前发现环路、端口错配和缺失输入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911B1-8465-4C7C-9C4A-3BAFFC0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22819-5A78-4C0A-B3CE-624ABA6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7DDC"/>
                </a:solidFill>
              </a:defRPr>
            </a:pPr>
            <a:r>
              <a:t>异步任务与恢复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C3620-469D-476A-8CCC-4776EE0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667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62A"/>
                </a:solidFill>
              </a:defRPr>
            </a:pPr>
            <a:r>
              <a:t>长时渲染不阻塞界面，重启后识别中断任务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38231-572F-4BAE-B5C2-BC4BF4B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238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7034C-E431-482D-9647-65E9B09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6A18"/>
                </a:solidFill>
              </a:defRPr>
            </a:pPr>
            <a:r>
              <a:t>可审计文件链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06A66-7674-4B30-A7D3-B183FC5D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667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62A"/>
                </a:solidFill>
              </a:defRPr>
            </a:pPr>
            <a:r>
              <a:t>分镜、源码、日志、批注、任务、修订全程留痕</a:t>
            </a:r>
          </a:p>
        </p:txBody>
      </p:sp>
    </p:spTree>
    <p:extLst>
      <p:ext uri="{BB962C8B-B14F-4D97-AF65-F5344CB8AC3E}">
        <p14:creationId xmlns:p14="http://schemas.microsoft.com/office/powerpoint/2010/main" val="1028339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CBD9E-D7C7-4CC3-A09F-09ABE1CB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系统测试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0D916-D450-4C8D-BBAA-EF79D488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C6F89-B8B4-43CF-932B-5D64678E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验证结果：能运行、能定位、能回退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12DF8-231B-4EED-8453-6F2D554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E2CB3-6A09-4DD5-9597-9D3F6FD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476500" cy="28765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40CE6-98A5-4B7B-A9B1-5B5EB359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7DDC"/>
                </a:solidFill>
              </a:defRPr>
            </a:pPr>
            <a: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825AE-1135-4F0D-8651-2AEF427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81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62A"/>
                </a:solidFill>
              </a:defRPr>
            </a:pPr>
            <a:r>
              <a:t>项目1后端自动化测试
全部通过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2CDF0-FF0E-48E0-96DA-3F7FD3FB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476500" cy="28765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6CCC4-E186-4B16-BD44-EC60C08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09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7DDC"/>
                </a:solidFill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823C-7D97-4B18-B40C-52C018BD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981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62A"/>
                </a:solidFill>
              </a:defRPr>
            </a:pPr>
            <a:r>
              <a:t>渲染失败的
最大自动修复轮数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242A3-C4A7-4C7C-B56C-EEF5048B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28765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93FCB-7BC7-4545-9005-75ED8899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09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7DDC"/>
                </a:solidFill>
              </a:defRPr>
            </a:pPr>
            <a:r>
              <a:t>23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6C4DF-A7A2-4B71-A165-848FBD5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981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62A"/>
                </a:solidFill>
              </a:defRPr>
            </a:pPr>
            <a:r>
              <a:t>斜拉桥示例视频
三个可定位分镜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78EEF-508E-4F09-AA53-13A5258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28765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C9411-60EE-4EF6-86EB-D2833915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33600"/>
            <a:ext cx="209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46A18"/>
                </a:solidFill>
              </a:defRPr>
            </a:pPr>
            <a:r>
              <a:t>v014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A5E79-E38D-49EF-B7AC-0B875F3A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981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62A"/>
                </a:solidFill>
              </a:defRPr>
            </a:pPr>
            <a:r>
              <a:t>示例项目连续审阅
已承载版本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C8D7A-7520-41C7-942F-1B2C4CE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57A"/>
                </a:solidFill>
              </a:defRPr>
            </a:pPr>
            <a:r>
              <a:t>项目2完成静态自检、前后端构建、视频接口、批注保存、分镜匹配、任务生成、渲染、修订与回滚验证。</a:t>
            </a:r>
          </a:p>
        </p:txBody>
      </p:sp>
    </p:spTree>
    <p:extLst>
      <p:ext uri="{BB962C8B-B14F-4D97-AF65-F5344CB8AC3E}">
        <p14:creationId xmlns:p14="http://schemas.microsoft.com/office/powerpoint/2010/main" val="660163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4EE28-B889-40C5-8170-AD636D29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53280-D9BB-44A1-AA0E-3975B075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71BD-B9BA-475E-8FA7-57C9E9E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项目特色：不追求“一次生成完美”，而是让修改可控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F1DAD-5B84-4FCD-A374-7061A040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BA45B-5609-4F94-81D4-3210317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81687-17F4-4E21-B757-F02C13B4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7DDC"/>
                </a:solidFill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6AAE0-77F7-419D-BD11-C1373E2B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62A"/>
                </a:solidFill>
              </a:defRPr>
            </a:pPr>
            <a:r>
              <a:t>双系统闭环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71E88-DCEA-43AB-8A71-21107EB0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9337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</a:defRPr>
            </a:pPr>
            <a:r>
              <a:t>生成端优化首次成片，审阅端优化精细修改。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1775E-D70C-4B0B-ADB6-5910AE26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FEFAC-A19A-4B91-95F4-707E4EE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46A18"/>
                </a:solidFill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30EB8-78DE-4BC5-93A5-739DAC52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62A"/>
                </a:solidFill>
              </a:defRPr>
            </a:pPr>
            <a:r>
              <a:t>分层视觉设计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71DB8-41E4-4CAA-9A7C-49BFD1C7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9337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</a:defRPr>
            </a:pPr>
            <a:r>
              <a:t>从教学目标逐层落到分镜、对象和动画代码。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808FA-6E52-4797-AEA1-4A330C1B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A96AE-D760-484F-A48E-83D0ECAF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7DDC"/>
                </a:solidFill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CCBCA-8A6C-40D6-8ADB-6042F7E9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62A"/>
                </a:solidFill>
              </a:defRPr>
            </a:pPr>
            <a:r>
              <a:t>编号批注映射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02D27-4929-4180-A88D-2556C1D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9337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</a:defRPr>
            </a:pPr>
            <a:r>
              <a:t>把画面指令映射到 OBJECT_ID 和代码行区间。</a:t>
            </a:r>
          </a:p>
        </p:txBody>
      </p:sp>
    </p:spTree>
    <p:extLst>
      <p:ext uri="{BB962C8B-B14F-4D97-AF65-F5344CB8AC3E}">
        <p14:creationId xmlns:p14="http://schemas.microsoft.com/office/powerpoint/2010/main" val="8575657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8363D-AC23-4AF5-B871-D00585D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DDC"/>
                </a:solidFill>
              </a:defRPr>
            </a:pPr>
            <a:r>
              <a:t>改进路线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130F3-2EA7-4DF6-BE1B-0C0BE2C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57A"/>
                </a:solidFill>
              </a:defRPr>
            </a:pPr>
            <a: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72E5E-A4CD-44C2-920F-1AF9D6C3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62A"/>
                </a:solidFill>
              </a:defRPr>
            </a:pPr>
            <a:r>
              <a:t>当前边界与下一步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DB79F-8ACE-42B6-998E-545F8D5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E6CA-E585-40E5-BC96-540E4742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42"/>
                </a:solidFill>
              </a:defRPr>
            </a:pPr>
            <a:r>
              <a:t>当前能力边界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5ED36-9817-400A-A1E1-5EEEC67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50482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62A"/>
                </a:solidFill>
              </a:defRPr>
            </a:pPr>
            <a:r>
              <a:t>• 未实现荷载组合、内力计算、截面验算与有限元求解
• 视觉守卫尚不能稳定检出遮挡、越界、空白帧
• 两项目尚未形成统一资产协议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347C-FDAD-4D49-88D7-B1E10AB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381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537A-DB2F-4F1E-AB34-CB7531D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7DDC"/>
                </a:solidFill>
              </a:defRPr>
            </a:pPr>
            <a:r>
              <a:t>优先改进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34782-DF6D-4945-9BCE-69E2CB75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2B768-8390-4A42-A27E-89309D24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514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A"/>
                </a:solidFill>
              </a:defRPr>
            </a:pPr>
            <a:r>
              <a:t>高  统一 project_manifest 与 shot 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54B0-DE59-4D0D-8219-629C3F1C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A4EB6-23EF-4838-951A-A20817C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4514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A"/>
                </a:solidFill>
              </a:defRPr>
            </a:pPr>
            <a:r>
              <a:t>高  渲染后抽帧质量检测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AB54A-0937-4BEF-821E-DB10C07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017BB-CDA7-4C3C-937F-187428E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514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62A"/>
                </a:solidFill>
              </a:defRPr>
            </a:pPr>
            <a:r>
              <a:t>中  接入桥梁计算结果与修订前后差异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0ABDE-4833-40E2-8AF0-56835DAD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0820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57A"/>
                </a:solidFill>
              </a:defRPr>
            </a:pPr>
            <a:r>
              <a:t>动画负责组织与表达；结构安全结论仍必须由规范、计算和专业判断共同保证。</a:t>
            </a:r>
          </a:p>
        </p:txBody>
      </p:sp>
    </p:spTree>
    <p:extLst>
      <p:ext uri="{BB962C8B-B14F-4D97-AF65-F5344CB8AC3E}">
        <p14:creationId xmlns:p14="http://schemas.microsoft.com/office/powerpoint/2010/main" val="835114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58BA7-F145-4107-8967-63035D0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C2D9"/>
                </a:solidFill>
              </a:defRPr>
            </a:pPr>
            <a: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E99FC-B026-4A97-8C07-3CF78E11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572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t>真正的成果不只是一段视频，
而是一条可解释、可复核、可回退的工程表达流程。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03FA5-5E46-4F56-9379-AD4E9C1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55B86-EE2D-48CB-9CDD-11453ACC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971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7F4"/>
                </a:solidFill>
              </a:defRPr>
            </a:pPr>
            <a:r>
              <a:t>项目1建立了可执行的生成流水线；项目2建立了可控的交互审阅流水线。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95E23-D45A-456B-87D2-22F21F8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28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42"/>
                </a:solidFill>
              </a:defRPr>
            </a:pPr>
            <a:r>
              <a:t>谢谢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00550-B739-4E66-8E0E-328F9719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02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FB4C8"/>
                </a:solidFill>
              </a:defRPr>
            </a:pPr>
            <a:r>
              <a:t>桥梁工程课程设计汇报</a:t>
            </a:r>
          </a:p>
        </p:txBody>
      </p:sp>
    </p:spTree>
    <p:extLst>
      <p:ext uri="{BB962C8B-B14F-4D97-AF65-F5344CB8AC3E}">
        <p14:creationId xmlns:p14="http://schemas.microsoft.com/office/powerpoint/2010/main" val="356372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2026-07-01T02:44:56.9420000Z</dcterms:created>
  <dcterms:modified xsi:type="dcterms:W3CDTF">2026-07-01T02:44:56.9430000Z</dcterms:modified>
</coreProperties>
</file>